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6FA27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Quality</c:v>
                </c:pt>
                <c:pt idx="1">
                  <c:v>Price</c:v>
                </c:pt>
                <c:pt idx="2">
                  <c:v>Packaging</c:v>
                </c:pt>
                <c:pt idx="3">
                  <c:v>Delivery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38</c:v>
                </c:pt>
                <c:pt idx="2">
                  <c:v>41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D9-4FE7-A115-FC2277EDAA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B8BEC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Quality</c:v>
                </c:pt>
                <c:pt idx="1">
                  <c:v>Price</c:v>
                </c:pt>
                <c:pt idx="2">
                  <c:v>Packaging</c:v>
                </c:pt>
                <c:pt idx="3">
                  <c:v>Delivery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27</c:v>
                </c:pt>
                <c:pt idx="2">
                  <c:v>24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D9-4FE7-A115-FC2277EDAA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97B7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Quality</c:v>
                </c:pt>
                <c:pt idx="1">
                  <c:v>Price</c:v>
                </c:pt>
                <c:pt idx="2">
                  <c:v>Packaging</c:v>
                </c:pt>
                <c:pt idx="3">
                  <c:v>Delivery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35</c:v>
                </c:pt>
                <c:pt idx="2">
                  <c:v>35</c:v>
                </c:pt>
                <c:pt idx="3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D9-4FE7-A115-FC2277EDAA4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F3A5F"/>
                </a:solidFill>
                <a:latin typeface="Calibri"/>
              </a:rPr>
              <a:t>Cost vs benefit (Rs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B8BEC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5B-4E8D-9469-89C00E1A5F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Benefit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2.5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D5B-4E8D-9469-89C00E1A5F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.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757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AI solution for a consumer goods company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465493"/>
            <a:ext cx="1828800" cy="0"/>
          </a:xfrm>
          <a:prstGeom prst="line">
            <a:avLst/>
          </a:prstGeom>
          <a:solidFill>
            <a:srgbClr val="00BED2"/>
          </a:solidFill>
          <a:ln w="25400">
            <a:solidFill>
              <a:srgbClr val="7FA6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sz="1600" b="1">
                <a:solidFill>
                  <a:srgbClr val="69DCE8"/>
                </a:solidFill>
              </a:rPr>
              <a:t>GROUP 05  |  PROBLEM STATEMENT</a:t>
            </a:r>
            <a:endParaRPr lang="en-US" sz="1500" dirty="0"/>
          </a:p>
          <a:p>
            <a:pPr>
              <a:spcBef>
                <a:spcPts val="600"/>
              </a:spcBef>
              <a:defRPr sz="1700">
                <a:solidFill>
                  <a:srgbClr val="FFFFFF"/>
                </a:solidFill>
              </a:defRPr>
            </a:pPr>
            <a:r>
              <a:t>A consumer goods company is finding it difficult to understand customer preferences and create effective marketing campaigns. Propose an AI solution for hyper-personalised marketing, sentiment analysis from customer feedback, and improved customer service.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40080" y="3822191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 Patel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 Modi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Koshti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 Parakh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Mukta Khedkar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proposed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going wrong, and how one AI platform fixes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  |  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840480" cy="85039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11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reviews and social data sit in separate systems.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840480" cy="85039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679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for all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971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advert goes to everyone, so spend is wasted.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840480" cy="85039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639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feedback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and product issues are noticed weeks later.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AI solution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1645920"/>
            <a:ext cx="402336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6459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Hyper-personalised marketing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221992"/>
            <a:ext cx="402336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2219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Sentiment analysis of feedback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2798064"/>
            <a:ext cx="402336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27980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Improved customer service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374136"/>
            <a:ext cx="402336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3741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Data-driven decision making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950208"/>
            <a:ext cx="4023360" cy="5029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950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Continuous improvement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Hyper-personalised marketing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message for everyone to one message per person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  | 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sz="1400" dirty="0">
                <a:latin typeface="Calibri"/>
              </a:rPr>
              <a:t>•  Use K-Means clustering and RFM segmentation to group customers by buying </a:t>
            </a:r>
            <a:r>
              <a:rPr sz="1400" dirty="0" err="1">
                <a:latin typeface="Calibri"/>
              </a:rPr>
              <a:t>behaviour</a:t>
            </a:r>
            <a:r>
              <a:rPr sz="1400" dirty="0">
                <a:latin typeface="Calibri"/>
              </a:rPr>
              <a:t> and value.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Build knowledge-graph relationships and use market-basket analysis to identify relevant products.</a:t>
            </a:r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Use generative AI to tailor emails, adverts, notifications and promotions to each customer.</a:t>
            </a:r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Apply reinforcement learning and multi-armed bandits to test campaigns and shift spend to better performers.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0" y="1280160"/>
            <a:ext cx="32004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280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product, to the right customer, at the right time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after 18 months (assumed)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3017520"/>
          <a:ext cx="3200400" cy="13898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purchases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on ad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from customer feedback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opinions into clear insight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  | 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sz="1400" dirty="0">
                <a:latin typeface="Calibri"/>
              </a:rPr>
              <a:t>•  Apply NLP with supervised classifiers to label feedback as positive, negative or neutral.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Use topic modelling to uncover recurring themes, product issues and customer expectations.</a:t>
            </a:r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Use fuzzy logic to capture degrees of satisfaction rather than forcing every comment into a strict category.</a:t>
            </a:r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Present topic-level sentiment and emerging issues in dashboards for marketing and management teams.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0" y="1280160"/>
            <a:ext cx="32004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280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customers like, dislike and expect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sentiment by topic (illustrative)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5394960" y="2880360"/>
          <a:ext cx="338328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service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routine so people can handle the important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  |  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sz="1400" dirty="0">
                <a:latin typeface="Calibri"/>
              </a:rPr>
              <a:t>•  Deploy rule-based, intent-detection chatbots for FAQs and routine order-status queries, 24/7.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Use fine-tuned large language models (LLMs) with session context to provide relevant, </a:t>
            </a:r>
            <a:r>
              <a:rPr sz="1400" dirty="0" err="1">
                <a:latin typeface="Calibri"/>
              </a:rPr>
              <a:t>personalised</a:t>
            </a:r>
            <a:r>
              <a:rPr sz="1400" dirty="0">
                <a:latin typeface="Calibri"/>
              </a:rPr>
              <a:t> replies.</a:t>
            </a:r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Connect agentic AI to approved tools/APIs to check deliveries and handle eligible service tasks.</a:t>
            </a:r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Use sentiment detection to flag frustration; route complex or sensitive cases to human staff through an escalation path.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0" y="1280160"/>
            <a:ext cx="32004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280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replies, personal support and happier customers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improvement (assumed)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3017520"/>
          <a:ext cx="3200400" cy="13898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 (CSAT)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 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numbers in place of guesswork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  |  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  <a:buSzPct val="100000"/>
            </a:pPr>
            <a:r>
              <a:rPr sz="1400" dirty="0">
                <a:latin typeface="Calibri"/>
              </a:rPr>
              <a:t>•  Combine sales, CRM, customer and marketing sources into a unified customer-360 data platform.</a:t>
            </a:r>
            <a:endParaRPr lang="en-US" sz="1400" dirty="0"/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Use clustering and market-basket analysis to uncover customer segments, </a:t>
            </a:r>
            <a:r>
              <a:rPr sz="1400" dirty="0" err="1">
                <a:latin typeface="Calibri"/>
              </a:rPr>
              <a:t>behaviour</a:t>
            </a:r>
            <a:r>
              <a:rPr sz="1400" dirty="0">
                <a:latin typeface="Calibri"/>
              </a:rPr>
              <a:t> patterns and product affinities.</a:t>
            </a:r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Apply regression trees and demand-sensing models to forecast sales, demand and churn risk.</a:t>
            </a:r>
          </a:p>
          <a:p>
            <a:pPr>
              <a:spcAft>
                <a:spcPts val="700"/>
              </a:spcAft>
            </a:pPr>
            <a:r>
              <a:rPr sz="1400" dirty="0">
                <a:latin typeface="Calibri"/>
              </a:rPr>
              <a:t>•  Create explainable AI dashboards so managers can understand forecasts; use game-theory models to assess pricing responses.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0" y="1280160"/>
            <a:ext cx="32004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280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accurate decisions backed by customer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697480"/>
            <a:ext cx="3200400" cy="10972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2697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39AA6A-E335-4350-0F38-557A52D5E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517714"/>
            <a:ext cx="3566160" cy="2237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keeps learning, so results keep getting better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  |  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  <a:buSzPct val="100000"/>
            </a:pPr>
            <a:r>
              <a:rPr sz="1400" dirty="0">
                <a:latin typeface="Calibri"/>
              </a:rPr>
              <a:t>•  Create a closed-loop AI process: monitor campaign activity, evaluate results, adjust actions and measure outcomes.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sz="1400" dirty="0">
                <a:latin typeface="Calibri"/>
              </a:rPr>
              <a:t>•  Use Bayesian updating to refresh estimates of campaign success as new feedback arrives.</a:t>
            </a:r>
          </a:p>
          <a:p>
            <a:pPr>
              <a:spcAft>
                <a:spcPts val="400"/>
              </a:spcAft>
            </a:pPr>
            <a:r>
              <a:rPr sz="1400" dirty="0">
                <a:latin typeface="Calibri"/>
              </a:rPr>
              <a:t>•  Track engagement, conversion and customer satisfaction; use fuzzy logic for less clear measures such as satisfaction.</a:t>
            </a:r>
          </a:p>
          <a:p>
            <a:pPr>
              <a:spcAft>
                <a:spcPts val="400"/>
              </a:spcAft>
            </a:pPr>
            <a:r>
              <a:rPr sz="1400" dirty="0">
                <a:latin typeface="Calibri"/>
              </a:rPr>
              <a:t>•  Run automated A/B tests and multi-armed-bandit experiments to </a:t>
            </a:r>
            <a:r>
              <a:rPr sz="1400" dirty="0" err="1">
                <a:latin typeface="Calibri"/>
              </a:rPr>
              <a:t>favour</a:t>
            </a:r>
            <a:r>
              <a:rPr sz="1400" dirty="0">
                <a:latin typeface="Calibri"/>
              </a:rPr>
              <a:t> better-performing campaign variants.</a:t>
            </a:r>
          </a:p>
          <a:p>
            <a:pPr>
              <a:spcAft>
                <a:spcPts val="400"/>
              </a:spcAft>
            </a:pPr>
            <a:r>
              <a:rPr sz="1400" dirty="0">
                <a:latin typeface="Calibri"/>
              </a:rPr>
              <a:t>•  Monitor model drift and retrain models when customer </a:t>
            </a:r>
            <a:r>
              <a:rPr sz="1400" dirty="0" err="1">
                <a:latin typeface="Calibri"/>
              </a:rPr>
              <a:t>behaviour</a:t>
            </a:r>
            <a:r>
              <a:rPr sz="1400" dirty="0">
                <a:latin typeface="Calibri"/>
              </a:rPr>
              <a:t> or performance changes.</a:t>
            </a:r>
          </a:p>
        </p:txBody>
      </p:sp>
      <p:sp>
        <p:nvSpPr>
          <p:cNvPr id="8" name="Shape 6"/>
          <p:cNvSpPr/>
          <p:nvPr/>
        </p:nvSpPr>
        <p:spPr>
          <a:xfrm>
            <a:off x="5486400" y="1280160"/>
            <a:ext cx="3200400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2801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improving marketing results and customer satisfaction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697480"/>
            <a:ext cx="3200400" cy="109728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26974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 &gt;  Learn  &gt;  Improve  &gt;  Test  &gt;  Repeat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over 18 to 24 months, starting with a pilot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  |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6596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Foundation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965960" cy="13716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goals, check data, choose tools, build the data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1554480"/>
            <a:ext cx="1965960" cy="64008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2032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Pilot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4-8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42032" y="2194560"/>
            <a:ext cx="1965960" cy="13716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9192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chatbot and sentiment tool; test personalised campaigns on one product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1554480"/>
            <a:ext cx="196596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26864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Scale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9-15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26864" y="2194560"/>
            <a:ext cx="1965960" cy="13716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64024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all products and channels; launch live dashboards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11696" y="1554480"/>
            <a:ext cx="1965960" cy="6400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11696" y="15544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Optimise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16-24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11696" y="2194560"/>
            <a:ext cx="1965960" cy="1371600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48856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models, automate testing, expand to new markets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first: follow India's DPDP Act 2023, take clear consent and keep humans in charge of key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Costs, benefits and ROI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 for a mid-sized company (about Rs 500 crore revenue)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Marketing and Customer Experience  |  8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2801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71600"/>
            <a:ext cx="3017520" cy="62179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37160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8.0 cr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37160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3-year cost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2084832"/>
            <a:ext cx="3017520" cy="62179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208483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17.5 cr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208483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3-year benefit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0" y="2798064"/>
            <a:ext cx="3017520" cy="62179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279806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119%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279806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0" y="3511296"/>
            <a:ext cx="3017520" cy="621792"/>
          </a:xfrm>
          <a:prstGeom prst="rect">
            <a:avLst/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06440" y="351129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16-17 months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7178040" y="351129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4251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approve a six-month pilot, then decide on full rollout.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923</Words>
  <Application>Microsoft Office PowerPoint</Application>
  <PresentationFormat>On-screen Show (16:9)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Marketing and Customer Experience</dc:title>
  <dc:subject>PptxGenJS Presentation</dc:subject>
  <dc:creator>PptxGenJS</dc:creator>
  <cp:lastModifiedBy>Mudit Parakh</cp:lastModifiedBy>
  <cp:revision>5</cp:revision>
  <dcterms:created xsi:type="dcterms:W3CDTF">2026-10-18T06:59:54Z</dcterms:created>
  <dcterms:modified xsi:type="dcterms:W3CDTF">2026-10-18T13:17:07Z</dcterms:modified>
</cp:coreProperties>
</file>